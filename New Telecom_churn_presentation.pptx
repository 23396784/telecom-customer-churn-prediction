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1626c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89023" y="1534567"/>
            <a:ext cx="29656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PROJECT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2316336" y="1949797"/>
            <a:ext cx="451118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Telecom Customer Churn</a:t>
            </a:r>
            <a:endParaRPr lang="en-US" sz="3150" dirty="0"/>
          </a:p>
          <a:p>
            <a:pPr algn="ctr" indent="0" marL="0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4190851" y="3138339"/>
            <a:ext cx="762000" cy="28575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321195" y="3395514"/>
            <a:ext cx="45013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PySpark &amp; Machine Learning to Identify At-Risk Customers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7180" y="437777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Prefa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97180" y="460251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Doctor | MSc Data Science &amp; Business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8041c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844278"/>
            <a:ext cx="4048125" cy="838200"/>
          </a:xfrm>
          <a:prstGeom prst="roundRect">
            <a:avLst>
              <a:gd name="adj" fmla="val 9091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844278"/>
            <a:ext cx="0" cy="83820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9600" y="2034778"/>
            <a:ext cx="3701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costs telecom companies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5-25x more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retaining existing customers.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81000" y="2834878"/>
            <a:ext cx="4048125" cy="1188244"/>
          </a:xfrm>
          <a:prstGeom prst="roundRect">
            <a:avLst>
              <a:gd name="adj" fmla="val 6413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2987278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33400" y="3236714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Which customers are likely to leave?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33400" y="3467100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factors drive churn behavior?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33400" y="3697486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How can we intervene proactively?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714875" y="1689050"/>
            <a:ext cx="4048125" cy="1148507"/>
          </a:xfrm>
          <a:prstGeom prst="roundRect">
            <a:avLst>
              <a:gd name="adj" fmla="val 6635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67275" y="1841450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867275" y="2090886"/>
            <a:ext cx="3818192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machine learning models to predict customer churn and identify the key behavioral patterns that indicate a customer is at risk of leaving.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714875" y="2989957"/>
            <a:ext cx="4048125" cy="1188244"/>
          </a:xfrm>
          <a:prstGeom prst="roundRect">
            <a:avLst>
              <a:gd name="adj" fmla="val 6413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67275" y="3142357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4867275" y="3391793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Reduce customer acquisition costs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4867275" y="3622179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Target retention campaigns effectively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4867275" y="3852565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Improve customer lifetime value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3fd2e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400" dirty="0"/>
          </a:p>
        </p:txBody>
      </p:sp>
      <p:pic>
        <p:nvPicPr>
          <p:cNvPr id="4" name="Image 1" descr="/tmp/rasterized-gradient-571d14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30809"/>
            <a:ext cx="2667000" cy="10590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421309"/>
            <a:ext cx="233172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3,333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48640" y="1939379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900" dirty="0"/>
          </a:p>
        </p:txBody>
      </p:sp>
      <p:pic>
        <p:nvPicPr>
          <p:cNvPr id="7" name="Image 2" descr="/tmp/rasterized-gradient-161468c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404170"/>
            <a:ext cx="2667000" cy="10590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2594670"/>
            <a:ext cx="233172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700" dirty="0"/>
          </a:p>
        </p:txBody>
      </p:sp>
      <p:sp>
        <p:nvSpPr>
          <p:cNvPr id="9" name="Text 4"/>
          <p:cNvSpPr/>
          <p:nvPr/>
        </p:nvSpPr>
        <p:spPr>
          <a:xfrm>
            <a:off x="548640" y="3112740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81000" y="3577530"/>
            <a:ext cx="2667000" cy="1059061"/>
          </a:xfrm>
          <a:prstGeom prst="roundRect">
            <a:avLst>
              <a:gd name="adj" fmla="val 7195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48640" y="3768030"/>
            <a:ext cx="233172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548640" y="4286101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76600" y="1095524"/>
            <a:ext cx="5486400" cy="643830"/>
          </a:xfrm>
          <a:prstGeom prst="roundRect">
            <a:avLst>
              <a:gd name="adj" fmla="val 11835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3448050" y="1228874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METRICS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448050" y="1446014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DayMins, EveMins, NightMins, IntlMins, DayCalls, EveCalls, NightCalls, IntlCalls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276600" y="1853654"/>
            <a:ext cx="5486400" cy="643830"/>
          </a:xfrm>
          <a:prstGeom prst="roundRect">
            <a:avLst>
              <a:gd name="adj" fmla="val 11835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448050" y="1987004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FEATURES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448050" y="2204145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DayCharge, EveCharge, NightCharge, IntlCharge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276600" y="2611785"/>
            <a:ext cx="5486400" cy="643830"/>
          </a:xfrm>
          <a:prstGeom prst="roundRect">
            <a:avLst>
              <a:gd name="adj" fmla="val 11835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3448050" y="2745135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INFO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448050" y="2962275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AccountLength, VMailMessage, IntlPlan, VMailPlan, CustServCalls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276600" y="3369915"/>
            <a:ext cx="5486400" cy="643830"/>
          </a:xfrm>
          <a:prstGeom prst="roundRect">
            <a:avLst>
              <a:gd name="adj" fmla="val 11835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3448050" y="3503265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448050" y="3720405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AreaCode, Phone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276600" y="4128046"/>
            <a:ext cx="5486400" cy="643830"/>
          </a:xfrm>
          <a:prstGeom prst="roundRect">
            <a:avLst>
              <a:gd name="adj" fmla="val 11835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3295650" y="4128046"/>
            <a:ext cx="0" cy="64383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486150" y="4261396"/>
            <a:ext cx="52075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486150" y="4478536"/>
            <a:ext cx="52075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(Yes/No) - Binary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69811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149" y="1441252"/>
            <a:ext cx="1310580" cy="1013371"/>
          </a:xfrm>
          <a:prstGeom prst="roundRect">
            <a:avLst>
              <a:gd name="adj" fmla="val 7519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62353" y="1593652"/>
            <a:ext cx="948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2353" y="1970782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2353" y="2168872"/>
            <a:ext cx="948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DataFrame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806029" y="178787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48929" y="1441252"/>
            <a:ext cx="1310580" cy="1013371"/>
          </a:xfrm>
          <a:prstGeom prst="roundRect">
            <a:avLst>
              <a:gd name="adj" fmla="val 7519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330133" y="1593652"/>
            <a:ext cx="948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330133" y="1970782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30133" y="2168872"/>
            <a:ext cx="948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Transform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573810" y="178787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916710" y="1441252"/>
            <a:ext cx="1310580" cy="1013371"/>
          </a:xfrm>
          <a:prstGeom prst="roundRect">
            <a:avLst>
              <a:gd name="adj" fmla="val 7519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97914" y="1593652"/>
            <a:ext cx="948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097914" y="1970782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097914" y="2168872"/>
            <a:ext cx="948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341590" y="178787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84490" y="1441252"/>
            <a:ext cx="1310580" cy="1013371"/>
          </a:xfrm>
          <a:prstGeom prst="roundRect">
            <a:avLst>
              <a:gd name="adj" fmla="val 7519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865694" y="1593652"/>
            <a:ext cx="948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65694" y="1970782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65694" y="2168872"/>
            <a:ext cx="948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Evaluate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109371" y="178787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52271" y="1441252"/>
            <a:ext cx="1310580" cy="1013371"/>
          </a:xfrm>
          <a:prstGeom prst="roundRect">
            <a:avLst>
              <a:gd name="adj" fmla="val 7519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633475" y="1593652"/>
            <a:ext cx="948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633475" y="1970782"/>
            <a:ext cx="948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633475" y="2168872"/>
            <a:ext cx="948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81000" y="2702272"/>
            <a:ext cx="4095750" cy="1144786"/>
          </a:xfrm>
          <a:prstGeom prst="roundRect">
            <a:avLst>
              <a:gd name="adj" fmla="val 6656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52450" y="2873722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4667250" y="2854672"/>
            <a:ext cx="4095750" cy="839986"/>
          </a:xfrm>
          <a:prstGeom prst="roundRect">
            <a:avLst>
              <a:gd name="adj" fmla="val 9072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38700" y="3026122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381000" y="3999458"/>
            <a:ext cx="8382000" cy="426690"/>
          </a:xfrm>
          <a:prstGeom prst="roundRect">
            <a:avLst>
              <a:gd name="adj" fmla="val 17858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00050" y="3999458"/>
            <a:ext cx="0" cy="42669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9600" y="4132808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 Training (2,666 samples) | 20% Testing (667 samples) | Stratified sampling to preserve churn ratio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52b02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from EDA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205954"/>
            <a:ext cx="4095750" cy="1285726"/>
          </a:xfrm>
          <a:prstGeom prst="roundRect">
            <a:avLst>
              <a:gd name="adj" fmla="val 5927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205954"/>
            <a:ext cx="0" cy="128572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0550" y="1377404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CHURN INDICATOR #1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590550" y="1626840"/>
            <a:ext cx="37890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Calls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90550" y="1977330"/>
            <a:ext cx="37890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with 4+ service calls have significantly higher churn rates. Indicates unresolved issues leading to dissatisfaction.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1000" y="2625030"/>
            <a:ext cx="4095750" cy="1285726"/>
          </a:xfrm>
          <a:prstGeom prst="roundRect">
            <a:avLst>
              <a:gd name="adj" fmla="val 5927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625030"/>
            <a:ext cx="0" cy="128572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0550" y="2796480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CHURN INDICATOR #2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90550" y="3045916"/>
            <a:ext cx="37890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Minutes Usage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90550" y="3396407"/>
            <a:ext cx="37890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daytime usage correlates with higher charges and increased churn probability.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67250" y="1237506"/>
            <a:ext cx="4095750" cy="1285726"/>
          </a:xfrm>
          <a:prstGeom prst="roundRect">
            <a:avLst>
              <a:gd name="adj" fmla="val 5927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686300" y="1237506"/>
            <a:ext cx="0" cy="1285726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6800" y="1408956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CORRELATION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4876800" y="1658392"/>
            <a:ext cx="37890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↔ Charges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876800" y="2008882"/>
            <a:ext cx="37890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positive correlation between usage minutes and charges across all time periods (Day, Evening, Night, International).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67250" y="2656582"/>
            <a:ext cx="4095750" cy="1222772"/>
          </a:xfrm>
          <a:prstGeom prst="roundRect">
            <a:avLst>
              <a:gd name="adj" fmla="val 6232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38700" y="2828032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DISTRIBUTION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4821507" y="3096518"/>
            <a:ext cx="175364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85.5%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821507" y="3561308"/>
            <a:ext cx="1753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855095" y="3096518"/>
            <a:ext cx="175364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55095" y="3561308"/>
            <a:ext cx="1753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381000" y="4545360"/>
            <a:ext cx="8382000" cy="407640"/>
          </a:xfrm>
          <a:prstGeom prst="roundRect">
            <a:avLst>
              <a:gd name="adj" fmla="val 18693"/>
            </a:avLst>
          </a:prstGeom>
          <a:solidFill>
            <a:srgbClr val="0D2B3E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61975" y="4669185"/>
            <a:ext cx="81804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Insight: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International Plan subscribers show higher churn rates, suggesting pricing or service quality concerns for international callers.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cc7b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Results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503164"/>
            <a:ext cx="8382000" cy="1872258"/>
          </a:xfrm>
          <a:prstGeom prst="roundRect">
            <a:avLst>
              <a:gd name="adj" fmla="val 4070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81000" y="1503164"/>
            <a:ext cx="8382000" cy="439936"/>
          </a:xfrm>
          <a:prstGeom prst="rect">
            <a:avLst/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1636514"/>
            <a:ext cx="30778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726302" y="1636514"/>
            <a:ext cx="1538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387522" y="1636514"/>
            <a:ext cx="1538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7048741" y="1636514"/>
            <a:ext cx="1538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381000" y="2401193"/>
            <a:ext cx="8382000" cy="0"/>
          </a:xfrm>
          <a:prstGeom prst="line">
            <a:avLst/>
          </a:prstGeom>
          <a:noFill/>
          <a:ln w="9525">
            <a:solidFill>
              <a:srgbClr val="2A5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076450"/>
            <a:ext cx="30778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726302" y="2076450"/>
            <a:ext cx="1538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78.57%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87522" y="2076450"/>
            <a:ext cx="1538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048741" y="2076450"/>
            <a:ext cx="1538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1000" y="2405955"/>
            <a:ext cx="8382000" cy="489496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81000" y="2890689"/>
            <a:ext cx="8382000" cy="0"/>
          </a:xfrm>
          <a:prstGeom prst="line">
            <a:avLst/>
          </a:prstGeom>
          <a:noFill/>
          <a:ln w="9525">
            <a:solidFill>
              <a:srgbClr val="2A5A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" y="2552551"/>
            <a:ext cx="9976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726302" y="2539305"/>
            <a:ext cx="15389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85.71%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87522" y="2552551"/>
            <a:ext cx="1538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048741" y="2552551"/>
            <a:ext cx="1538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81000" y="2895451"/>
            <a:ext cx="8382000" cy="479971"/>
          </a:xfrm>
          <a:prstGeom prst="rect">
            <a:avLst/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71500" y="3042047"/>
            <a:ext cx="6424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AdaBoost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726302" y="3042047"/>
            <a:ext cx="1538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82.14%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87522" y="3042047"/>
            <a:ext cx="1538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048741" y="3028801"/>
            <a:ext cx="15389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81000" y="3527822"/>
            <a:ext cx="4114800" cy="836265"/>
          </a:xfrm>
          <a:prstGeom prst="roundRect">
            <a:avLst>
              <a:gd name="adj" fmla="val 9112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00050" y="3527822"/>
            <a:ext cx="0" cy="836265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" y="3680222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RANDOM FOREST?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1500" y="389736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overall accuracy (85.71%) with perfect precision. Best for minimizing false positives in retention campaigns.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648200" y="3527822"/>
            <a:ext cx="4114800" cy="836265"/>
          </a:xfrm>
          <a:prstGeom prst="roundRect">
            <a:avLst>
              <a:gd name="adj" fmla="val 9112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667250" y="3527822"/>
            <a:ext cx="0" cy="836265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38700" y="3680222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ADABOOST?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38700" y="389736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recall means catching more actual churners. Recommended when missing a churner is costly.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6999d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Predictors of Churn</a:t>
            </a:r>
            <a:endParaRPr lang="en-US" sz="2400" dirty="0"/>
          </a:p>
        </p:txBody>
      </p:sp>
      <p:pic>
        <p:nvPicPr>
          <p:cNvPr id="4" name="Image 1" descr="/tmp/rasterized-gradient-7f22a1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14475"/>
            <a:ext cx="4076700" cy="857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70497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45927" y="178311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200150" y="1730722"/>
            <a:ext cx="18533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Minutes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200150" y="2008733"/>
            <a:ext cx="18533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usage = Higher bills = More churn</a:t>
            </a:r>
            <a:endParaRPr lang="en-US" sz="825" dirty="0"/>
          </a:p>
        </p:txBody>
      </p:sp>
      <p:sp>
        <p:nvSpPr>
          <p:cNvPr id="9" name="Text 5"/>
          <p:cNvSpPr/>
          <p:nvPr/>
        </p:nvSpPr>
        <p:spPr>
          <a:xfrm>
            <a:off x="381000" y="2505075"/>
            <a:ext cx="4076700" cy="857250"/>
          </a:xfrm>
          <a:prstGeom prst="roundRect">
            <a:avLst>
              <a:gd name="adj" fmla="val 8889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71500" y="269557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45927" y="277371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200150" y="2721322"/>
            <a:ext cx="19692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Calls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00150" y="2999333"/>
            <a:ext cx="19692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calls = Unresolved issues = Churn risk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381000" y="3495675"/>
            <a:ext cx="4076700" cy="857250"/>
          </a:xfrm>
          <a:prstGeom prst="roundRect">
            <a:avLst>
              <a:gd name="adj" fmla="val 8889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71500" y="368617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63D52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45927" y="376431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200150" y="3711922"/>
            <a:ext cx="16868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Charge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200150" y="3989933"/>
            <a:ext cx="16868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correlated with day minutes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4686300" y="1766143"/>
            <a:ext cx="4076700" cy="2334964"/>
          </a:xfrm>
          <a:prstGeom prst="roundRect">
            <a:avLst>
              <a:gd name="adj" fmla="val 3263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857750" y="1937593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4857750" y="2244179"/>
            <a:ext cx="4157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DayMins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8329613" y="2244179"/>
            <a:ext cx="267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4857750" y="2428875"/>
            <a:ext cx="3733800" cy="76200"/>
          </a:xfrm>
          <a:prstGeom prst="roundRect">
            <a:avLst>
              <a:gd name="adj" fmla="val 50000"/>
            </a:avLst>
          </a:prstGeom>
          <a:solidFill>
            <a:srgbClr val="0D2B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/tmp/rasterized-gradient-f473e05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2428875"/>
            <a:ext cx="3547021" cy="76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57750" y="2600325"/>
            <a:ext cx="677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CustServCalls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8329613" y="2600325"/>
            <a:ext cx="267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4857750" y="2785021"/>
            <a:ext cx="3733800" cy="76200"/>
          </a:xfrm>
          <a:prstGeom prst="roundRect">
            <a:avLst>
              <a:gd name="adj" fmla="val 50000"/>
            </a:avLst>
          </a:prstGeom>
          <a:solidFill>
            <a:srgbClr val="0D2B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3" descr="/tmp/rasterized-gradient-ae72983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2785021"/>
            <a:ext cx="3285679" cy="76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57750" y="2956471"/>
            <a:ext cx="5405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DayCharge</a:t>
            </a:r>
            <a:endParaRPr lang="en-US" sz="825" dirty="0"/>
          </a:p>
        </p:txBody>
      </p:sp>
      <p:sp>
        <p:nvSpPr>
          <p:cNvPr id="30" name="Text 24"/>
          <p:cNvSpPr/>
          <p:nvPr/>
        </p:nvSpPr>
        <p:spPr>
          <a:xfrm>
            <a:off x="8166646" y="2956471"/>
            <a:ext cx="4334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25" dirty="0"/>
          </a:p>
        </p:txBody>
      </p:sp>
      <p:sp>
        <p:nvSpPr>
          <p:cNvPr id="31" name="Text 25"/>
          <p:cNvSpPr/>
          <p:nvPr/>
        </p:nvSpPr>
        <p:spPr>
          <a:xfrm>
            <a:off x="4857750" y="3141166"/>
            <a:ext cx="3733800" cy="76200"/>
          </a:xfrm>
          <a:prstGeom prst="roundRect">
            <a:avLst>
              <a:gd name="adj" fmla="val 50000"/>
            </a:avLst>
          </a:prstGeom>
          <a:solidFill>
            <a:srgbClr val="0D2B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4" descr="/tmp/rasterized-gradient-5090a42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141166"/>
            <a:ext cx="2800350" cy="76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857750" y="3312616"/>
            <a:ext cx="356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IntlPlan</a:t>
            </a:r>
            <a:endParaRPr lang="en-US" sz="825" dirty="0"/>
          </a:p>
        </p:txBody>
      </p:sp>
      <p:sp>
        <p:nvSpPr>
          <p:cNvPr id="34" name="Text 27"/>
          <p:cNvSpPr/>
          <p:nvPr/>
        </p:nvSpPr>
        <p:spPr>
          <a:xfrm>
            <a:off x="8166646" y="3312616"/>
            <a:ext cx="4334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25" dirty="0"/>
          </a:p>
        </p:txBody>
      </p:sp>
      <p:sp>
        <p:nvSpPr>
          <p:cNvPr id="35" name="Text 28"/>
          <p:cNvSpPr/>
          <p:nvPr/>
        </p:nvSpPr>
        <p:spPr>
          <a:xfrm>
            <a:off x="4857750" y="3497312"/>
            <a:ext cx="3733800" cy="76200"/>
          </a:xfrm>
          <a:prstGeom prst="roundRect">
            <a:avLst>
              <a:gd name="adj" fmla="val 50000"/>
            </a:avLst>
          </a:prstGeom>
          <a:solidFill>
            <a:srgbClr val="0D2B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5" descr="/tmp/rasterized-gradient-f2b5fc1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3497312"/>
            <a:ext cx="2240161" cy="76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857750" y="3668762"/>
            <a:ext cx="409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EveMins</a:t>
            </a:r>
            <a:endParaRPr lang="en-US" sz="825" dirty="0"/>
          </a:p>
        </p:txBody>
      </p:sp>
      <p:sp>
        <p:nvSpPr>
          <p:cNvPr id="38" name="Text 30"/>
          <p:cNvSpPr/>
          <p:nvPr/>
        </p:nvSpPr>
        <p:spPr>
          <a:xfrm>
            <a:off x="8352830" y="3668762"/>
            <a:ext cx="2434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25" dirty="0"/>
          </a:p>
        </p:txBody>
      </p:sp>
      <p:sp>
        <p:nvSpPr>
          <p:cNvPr id="39" name="Text 31"/>
          <p:cNvSpPr/>
          <p:nvPr/>
        </p:nvSpPr>
        <p:spPr>
          <a:xfrm>
            <a:off x="4857750" y="3853458"/>
            <a:ext cx="3733800" cy="76200"/>
          </a:xfrm>
          <a:prstGeom prst="roundRect">
            <a:avLst>
              <a:gd name="adj" fmla="val 50000"/>
            </a:avLst>
          </a:prstGeom>
          <a:solidFill>
            <a:srgbClr val="0D2B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6" descr="/tmp/rasterized-gradient-6386bfa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853458"/>
            <a:ext cx="1306711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9ac6b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078409"/>
            <a:ext cx="4114800" cy="1220986"/>
          </a:xfrm>
          <a:prstGeom prst="roundRect">
            <a:avLst>
              <a:gd name="adj" fmla="val 6241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381000" y="1097459"/>
            <a:ext cx="411480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2450" y="1287959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2450" y="1524149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Service Intervention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2450" y="1813620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customers after 3rd service call for manager callback and issue resolution before reaching the critical 4+ call threshold.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648200" y="1078409"/>
            <a:ext cx="4114800" cy="1220986"/>
          </a:xfrm>
          <a:prstGeom prst="roundRect">
            <a:avLst>
              <a:gd name="adj" fmla="val 6241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48200" y="1097459"/>
            <a:ext cx="411480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9650" y="1287959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19650" y="1524149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High-Usage Loyalty Programs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19650" y="1813620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discounted day-time rates or unlimited plans to heavy users before they seek alternatives.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81000" y="2432745"/>
            <a:ext cx="4114800" cy="1220986"/>
          </a:xfrm>
          <a:prstGeom prst="roundRect">
            <a:avLst>
              <a:gd name="adj" fmla="val 6241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81000" y="2451795"/>
            <a:ext cx="411480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2450" y="2642295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2450" y="2878485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Plan Review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2450" y="316795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international plan pricing and quality. Higher churn among international subscribers indicates competitive disadvantage.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48200" y="2432745"/>
            <a:ext cx="4114800" cy="1220986"/>
          </a:xfrm>
          <a:prstGeom prst="roundRect">
            <a:avLst>
              <a:gd name="adj" fmla="val 6241"/>
            </a:avLst>
          </a:prstGeom>
          <a:solidFill>
            <a:srgbClr val="1A4A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648200" y="2451795"/>
            <a:ext cx="411480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19650" y="2642295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19650" y="2878485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Retention System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19650" y="316795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Random Forest model in production to score customers monthly and trigger automated retention workflows.</a:t>
            </a:r>
            <a:endParaRPr lang="en-US" sz="825" dirty="0"/>
          </a:p>
        </p:txBody>
      </p:sp>
      <p:pic>
        <p:nvPicPr>
          <p:cNvPr id="24" name="Image 1" descr="/tmp/rasterized-gradient-d4f451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787080"/>
            <a:ext cx="8382000" cy="100191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52450" y="4102298"/>
            <a:ext cx="53720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975" dirty="0"/>
          </a:p>
        </p:txBody>
      </p:sp>
      <p:sp>
        <p:nvSpPr>
          <p:cNvPr id="26" name="Text 22"/>
          <p:cNvSpPr/>
          <p:nvPr/>
        </p:nvSpPr>
        <p:spPr>
          <a:xfrm>
            <a:off x="552450" y="4313634"/>
            <a:ext cx="53720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churn by just 1% can save a telecom company millions annually in customer acquisition costs.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019205" y="3958530"/>
            <a:ext cx="0" cy="659011"/>
          </a:xfrm>
          <a:prstGeom prst="line">
            <a:avLst/>
          </a:prstGeom>
          <a:noFill/>
          <a:ln w="19050">
            <a:solidFill>
              <a:srgbClr val="0D2B3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11869" y="3958530"/>
            <a:ext cx="75082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5-25x</a:t>
            </a:r>
            <a:endParaRPr lang="en-US" sz="2100" dirty="0"/>
          </a:p>
        </p:txBody>
      </p:sp>
      <p:sp>
        <p:nvSpPr>
          <p:cNvPr id="29" name="Text 25"/>
          <p:cNvSpPr/>
          <p:nvPr/>
        </p:nvSpPr>
        <p:spPr>
          <a:xfrm>
            <a:off x="6211869" y="4350841"/>
            <a:ext cx="750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to retain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acquire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25738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89565" y="1470720"/>
            <a:ext cx="9648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701402" y="1885950"/>
            <a:ext cx="174104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191000" y="2476500"/>
            <a:ext cx="762000" cy="28575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549575" y="2733675"/>
            <a:ext cx="4044851" cy="938957"/>
          </a:xfrm>
          <a:prstGeom prst="roundRect">
            <a:avLst>
              <a:gd name="adj" fmla="val 8115"/>
            </a:avLst>
          </a:prstGeom>
          <a:solidFill>
            <a:srgbClr val="163D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827761" y="2924175"/>
            <a:ext cx="7714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827761" y="3335536"/>
            <a:ext cx="7714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165881" y="2924175"/>
            <a:ext cx="69496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165881" y="3335536"/>
            <a:ext cx="6949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Predictors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426318" y="2924175"/>
            <a:ext cx="89109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26318" y="3335536"/>
            <a:ext cx="8910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297180" y="435872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Prefa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97180" y="460251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github.com/23396784 | LinkedIn: victor-prefa-99810929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Prediction</dc:title>
  <dc:subject>Machine Learning Project</dc:subject>
  <dc:creator>Victor Prefa</dc:creator>
  <cp:lastModifiedBy>Victor Prefa</cp:lastModifiedBy>
  <cp:revision>1</cp:revision>
  <dcterms:created xsi:type="dcterms:W3CDTF">2025-12-10T17:45:59Z</dcterms:created>
  <dcterms:modified xsi:type="dcterms:W3CDTF">2025-12-10T17:45:59Z</dcterms:modified>
</cp:coreProperties>
</file>